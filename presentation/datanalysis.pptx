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6858000" cx="12192000"/>
  <p:notesSz cx="6858000" cy="9144000"/>
  <p:embeddedFontLst>
    <p:embeddedFont>
      <p:font typeface="Roboto Mono"/>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RobotoMono-boldItalic.fnt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RobotoMono-regular.fntdata"/><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font" Target="fonts/RobotoMono-italic.fntdata"/><Relationship Id="rId6" Type="http://schemas.openxmlformats.org/officeDocument/2006/relationships/slide" Target="slides/slide2.xml"/><Relationship Id="rId18" Type="http://schemas.openxmlformats.org/officeDocument/2006/relationships/font" Target="fonts/RobotoMono-bold.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 name="Google Shape;13;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4" name="Google Shape;14;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 name="Shape 19"/>
        <p:cNvGrpSpPr/>
        <p:nvPr/>
      </p:nvGrpSpPr>
      <p:grpSpPr>
        <a:xfrm>
          <a:off x="0" y="0"/>
          <a:ext cx="0" cy="0"/>
          <a:chOff x="0" y="0"/>
          <a:chExt cx="0" cy="0"/>
        </a:xfrm>
      </p:grpSpPr>
      <p:sp>
        <p:nvSpPr>
          <p:cNvPr id="20" name="Google Shape;20;h74dfe8b8cac908e3_0_6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21" name="Google Shape;21;h74dfe8b8cac908e3_0_66: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Before getting into the analysis, I want to quickly explain what I mean by government composition. My dataset uses the Schmidt Index, which classifies governments into five categories based on the political composition of their cabinet. It ranges from right and centre parties holding all cabinet positions, through a balance between left and right, to left parties holding all cabinet positions. I then compare three economic indicators across these categories: GDP growth, unemployment, and inflation </a:t>
            </a:r>
            <a:endParaRPr/>
          </a:p>
        </p:txBody>
      </p:sp>
      <p:sp>
        <p:nvSpPr>
          <p:cNvPr id="22" name="Google Shape;22;h74dfe8b8cac908e3_0_66: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 name="Google Shape;28;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9" name="Google Shape;29;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 name="Shape 36"/>
        <p:cNvGrpSpPr/>
        <p:nvPr/>
      </p:nvGrpSpPr>
      <p:grpSpPr>
        <a:xfrm>
          <a:off x="0" y="0"/>
          <a:ext cx="0" cy="0"/>
          <a:chOff x="0" y="0"/>
          <a:chExt cx="0" cy="0"/>
        </a:xfrm>
      </p:grpSpPr>
      <p:sp>
        <p:nvSpPr>
          <p:cNvPr id="37" name="Google Shape;37;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 name="Google Shape;38;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a:t>
            </a:r>
            <a:r>
              <a:rPr lang="en-US"/>
              <a:t> wanted a relatively recent 20-year period while avoiding the exceptional economic disruption of the COVID-19 years. And also include most countries</a:t>
            </a:r>
            <a:endParaRPr sz="1200"/>
          </a:p>
        </p:txBody>
      </p:sp>
      <p:sp>
        <p:nvSpPr>
          <p:cNvPr id="39" name="Google Shape;39;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 name="Google Shape;53;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100">
                <a:solidFill>
                  <a:schemeClr val="dk1"/>
                </a:solidFill>
              </a:rPr>
              <a:t>“I normalized the original dataset into three tables. </a:t>
            </a:r>
            <a:r>
              <a:rPr lang="en-US" sz="1100">
                <a:solidFill>
                  <a:srgbClr val="188038"/>
                </a:solidFill>
                <a:latin typeface="Roboto Mono"/>
                <a:ea typeface="Roboto Mono"/>
                <a:cs typeface="Roboto Mono"/>
                <a:sym typeface="Roboto Mono"/>
              </a:rPr>
              <a:t>country_year</a:t>
            </a:r>
            <a:r>
              <a:rPr lang="en-US" sz="1100">
                <a:solidFill>
                  <a:schemeClr val="dk1"/>
                </a:solidFill>
              </a:rPr>
              <a:t> is my main table, while countries and government types are lookup tables. Each country and each government type can therefore be linked to many country-year observations.” </a:t>
            </a:r>
            <a:endParaRPr sz="1200"/>
          </a:p>
        </p:txBody>
      </p:sp>
      <p:sp>
        <p:nvSpPr>
          <p:cNvPr id="54" name="Google Shape;54;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 name="Google Shape;62;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solidFill>
                  <a:schemeClr val="dk1"/>
                </a:solidFill>
              </a:rPr>
              <a:t>This was one of the results that surprised me. I expected the political composition to show a clearer relationship with economic performance. Instead, the categories often move together. You can see this particularly around the decline in 2009 and the subsequent recovery. That suggests that broader economic conditions and the year itself may be very important. </a:t>
            </a:r>
            <a:endParaRPr>
              <a:solidFill>
                <a:schemeClr val="dk1"/>
              </a:solidFill>
            </a:endParaRPr>
          </a:p>
          <a:p>
            <a:pPr indent="0" lvl="0" marL="0" rtl="0" algn="l">
              <a:spcBef>
                <a:spcPts val="0"/>
              </a:spcBef>
              <a:spcAft>
                <a:spcPts val="0"/>
              </a:spcAft>
              <a:buNone/>
            </a:pPr>
            <a:r>
              <a:t/>
            </a:r>
            <a:endParaRPr/>
          </a:p>
        </p:txBody>
      </p:sp>
      <p:sp>
        <p:nvSpPr>
          <p:cNvPr id="63" name="Google Shape;63;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5" name="Google Shape;75;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Unemployment looks somewhat different from GDP growth. The categories are less synchronized and there are larger differences between them in individual years. But again, there is no consistent ordering across the full period. The categories cross frequently, and the countries belonging to each category also change over time. </a:t>
            </a:r>
            <a:endParaRPr sz="1200"/>
          </a:p>
        </p:txBody>
      </p:sp>
      <p:sp>
        <p:nvSpPr>
          <p:cNvPr id="76" name="Google Shape;76;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h74dfe8b8cac908e3_0_4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 name="Google Shape;87;h74dfe8b8cac908e3_0_4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Inflation adds another perspective. There are quite large differences between the categories in the early 2000s, including some extreme observations that I also saw in the boxplot. But over time, especially after 2009, the categories become much closer together. Again, there isn't one government composition that consistently has higher or lower inflation across the whole period </a:t>
            </a:r>
            <a:endParaRPr sz="1200"/>
          </a:p>
        </p:txBody>
      </p:sp>
      <p:sp>
        <p:nvSpPr>
          <p:cNvPr id="88" name="Google Shape;88;h74dfe8b8cac908e3_0_4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9" name="Google Shape;99;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 started this project partly because I wanted data to help me examine my own assumptions about politics and economic outcomes. I expected to find a clearer pattern, but the results were much more mixed. For me, the main takeaway is not that political composition doesn't matter, but that this dataset and this descriptive analysis don't support a simple relationship between political orientation and these economic indicators. </a:t>
            </a:r>
            <a:endParaRPr sz="1200"/>
          </a:p>
        </p:txBody>
      </p:sp>
      <p:sp>
        <p:nvSpPr>
          <p:cNvPr id="100" name="Google Shape;100;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h74dfe8b8cac908e3_0_3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h74dfe8b8cac908e3_0_37: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1100">
                <a:solidFill>
                  <a:schemeClr val="dk1"/>
                </a:solidFill>
              </a:rPr>
              <a:t>An important imbalance in the data</a:t>
            </a:r>
            <a:endParaRPr b="1" sz="1100">
              <a:solidFill>
                <a:schemeClr val="dk1"/>
              </a:solidFill>
            </a:endParaRPr>
          </a:p>
          <a:p>
            <a:pPr indent="0" lvl="0" marL="0" rtl="0" algn="l">
              <a:spcBef>
                <a:spcPts val="0"/>
              </a:spcBef>
              <a:spcAft>
                <a:spcPts val="0"/>
              </a:spcAft>
              <a:buNone/>
            </a:pPr>
            <a:r>
              <a:rPr lang="en-US" sz="1100">
                <a:solidFill>
                  <a:schemeClr val="dk1"/>
                </a:solidFill>
              </a:rPr>
              <a:t>Right/centre government compositions occur more frequently in the dataset than several other categories. Therefore, the groups being compared are not equally represented. The descriptive comparisons do not control for unequal group sizes, country differences, time effects, or other economic factors. More advanced statistical analysis would be needed to estimate whether government composition has an independent relationship with economic outcomes. </a:t>
            </a:r>
            <a:endParaRPr/>
          </a:p>
        </p:txBody>
      </p:sp>
      <p:sp>
        <p:nvSpPr>
          <p:cNvPr id="111" name="Google Shape;111;h74dfe8b8cac908e3_0_37: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6" name="Google Shape;116;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solidFill>
                  <a:schemeClr val="dk1"/>
                </a:solidFill>
              </a:rPr>
              <a:t>I first explored the original CPDS dataset, selected the variables relevant to my questions, transformed it into three relational tables, loaded those into SQLite, and then used SQL to answer my research questions and Python to visualize the results. </a:t>
            </a:r>
            <a:endParaRPr>
              <a:solidFill>
                <a:schemeClr val="dk1"/>
              </a:solidFill>
            </a:endParaRPr>
          </a:p>
          <a:p>
            <a:pPr indent="0" lvl="0" marL="0" rtl="0" algn="l">
              <a:spcBef>
                <a:spcPts val="0"/>
              </a:spcBef>
              <a:spcAft>
                <a:spcPts val="0"/>
              </a:spcAft>
              <a:buNone/>
            </a:pPr>
            <a:r>
              <a:t/>
            </a:r>
            <a:endParaRPr/>
          </a:p>
        </p:txBody>
      </p:sp>
      <p:sp>
        <p:nvSpPr>
          <p:cNvPr id="117" name="Google Shape;117;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1" name="Google Shape;131;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100">
                <a:solidFill>
                  <a:schemeClr val="dk1"/>
                </a:solidFill>
              </a:rPr>
              <a:t>“I normalized the original dataset into three tables. </a:t>
            </a:r>
            <a:r>
              <a:rPr lang="en-US" sz="1100">
                <a:solidFill>
                  <a:srgbClr val="188038"/>
                </a:solidFill>
                <a:latin typeface="Roboto Mono"/>
                <a:ea typeface="Roboto Mono"/>
                <a:cs typeface="Roboto Mono"/>
                <a:sym typeface="Roboto Mono"/>
              </a:rPr>
              <a:t>country_year</a:t>
            </a:r>
            <a:r>
              <a:rPr lang="en-US" sz="1100">
                <a:solidFill>
                  <a:schemeClr val="dk1"/>
                </a:solidFill>
              </a:rPr>
              <a:t> is my main table, while countries and government types are lookup tables. Each country and each government type can therefore be linked to many country-year observations.” </a:t>
            </a:r>
            <a:endParaRPr sz="1200"/>
          </a:p>
        </p:txBody>
      </p:sp>
      <p:sp>
        <p:nvSpPr>
          <p:cNvPr id="132" name="Google Shape;132;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sp>
        <p:nvSpPr>
          <p:cNvPr id="16" name="Google Shape;16;p3"/>
          <p:cNvSpPr txBox="1"/>
          <p:nvPr/>
        </p:nvSpPr>
        <p:spPr>
          <a:xfrm>
            <a:off x="801675" y="522975"/>
            <a:ext cx="9707700" cy="5573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b="1" lang="en-US" sz="3000">
                <a:solidFill>
                  <a:srgbClr val="168B8A"/>
                </a:solidFill>
              </a:rPr>
              <a:t>Government Composition and Economic Outcomes</a:t>
            </a:r>
            <a:endParaRPr b="1" sz="3000">
              <a:solidFill>
                <a:srgbClr val="168B8A"/>
              </a:solidFill>
            </a:endParaRPr>
          </a:p>
          <a:p>
            <a:pPr indent="0" lvl="0" marL="0" rtl="0" algn="l">
              <a:lnSpc>
                <a:spcPct val="115000"/>
              </a:lnSpc>
              <a:spcBef>
                <a:spcPts val="1200"/>
              </a:spcBef>
              <a:spcAft>
                <a:spcPts val="0"/>
              </a:spcAft>
              <a:buNone/>
            </a:pPr>
            <a:r>
              <a:rPr lang="en-US" sz="2400">
                <a:solidFill>
                  <a:schemeClr val="dk1"/>
                </a:solidFill>
              </a:rPr>
              <a:t>Do different government political compositions show different patterns in economic outcomes? </a:t>
            </a:r>
            <a:endParaRPr sz="2400">
              <a:solidFill>
                <a:schemeClr val="dk1"/>
              </a:solidFill>
            </a:endParaRPr>
          </a:p>
          <a:p>
            <a:pPr indent="0" lvl="0" marL="0" rtl="0" algn="l">
              <a:lnSpc>
                <a:spcPct val="115000"/>
              </a:lnSpc>
              <a:spcBef>
                <a:spcPts val="1200"/>
              </a:spcBef>
              <a:spcAft>
                <a:spcPts val="0"/>
              </a:spcAft>
              <a:buNone/>
            </a:pPr>
            <a:r>
              <a:t/>
            </a:r>
            <a:endParaRPr b="1" sz="2400">
              <a:solidFill>
                <a:schemeClr val="dk1"/>
              </a:solidFill>
            </a:endParaRPr>
          </a:p>
          <a:p>
            <a:pPr indent="0" lvl="0" marL="0" rtl="0" algn="l">
              <a:lnSpc>
                <a:spcPct val="115000"/>
              </a:lnSpc>
              <a:spcBef>
                <a:spcPts val="1200"/>
              </a:spcBef>
              <a:spcAft>
                <a:spcPts val="0"/>
              </a:spcAft>
              <a:buNone/>
            </a:pPr>
            <a:r>
              <a:t/>
            </a:r>
            <a:endParaRPr b="1" sz="2400">
              <a:solidFill>
                <a:schemeClr val="dk1"/>
              </a:solidFill>
            </a:endParaRPr>
          </a:p>
          <a:p>
            <a:pPr indent="0" lvl="0" marL="0" rtl="0" algn="l">
              <a:lnSpc>
                <a:spcPct val="115000"/>
              </a:lnSpc>
              <a:spcBef>
                <a:spcPts val="1200"/>
              </a:spcBef>
              <a:spcAft>
                <a:spcPts val="0"/>
              </a:spcAft>
              <a:buNone/>
            </a:pPr>
            <a:r>
              <a:t/>
            </a:r>
            <a:endParaRPr b="1" sz="2400">
              <a:solidFill>
                <a:schemeClr val="dk1"/>
              </a:solidFill>
            </a:endParaRPr>
          </a:p>
          <a:p>
            <a:pPr indent="0" lvl="0" marL="0" rtl="0" algn="l">
              <a:lnSpc>
                <a:spcPct val="115000"/>
              </a:lnSpc>
              <a:spcBef>
                <a:spcPts val="1200"/>
              </a:spcBef>
              <a:spcAft>
                <a:spcPts val="0"/>
              </a:spcAft>
              <a:buNone/>
            </a:pPr>
            <a:r>
              <a:t/>
            </a:r>
            <a:endParaRPr b="1" sz="24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b="1" sz="24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600">
              <a:solidFill>
                <a:schemeClr val="dk1"/>
              </a:solidFill>
            </a:endParaRPr>
          </a:p>
          <a:p>
            <a:pPr indent="0" lvl="0" marL="0" rtl="0" algn="l">
              <a:spcBef>
                <a:spcPts val="1200"/>
              </a:spcBef>
              <a:spcAft>
                <a:spcPts val="0"/>
              </a:spcAft>
              <a:buNone/>
            </a:pPr>
            <a:r>
              <a:t/>
            </a:r>
            <a:endParaRPr sz="2400"/>
          </a:p>
        </p:txBody>
      </p:sp>
      <p:pic>
        <p:nvPicPr>
          <p:cNvPr descr="a cartoon of peter griffin speaking into a microphone with the words a level politics above him (Provided by Tenor)" id="17" name="Google Shape;17;p3"/>
          <p:cNvPicPr preferRelativeResize="0"/>
          <p:nvPr/>
        </p:nvPicPr>
        <p:blipFill>
          <a:blip r:embed="rId3">
            <a:alphaModFix/>
          </a:blip>
          <a:stretch>
            <a:fillRect/>
          </a:stretch>
        </p:blipFill>
        <p:spPr>
          <a:xfrm>
            <a:off x="3747375" y="2202627"/>
            <a:ext cx="4697251" cy="3518200"/>
          </a:xfrm>
          <a:prstGeom prst="rect">
            <a:avLst/>
          </a:prstGeom>
          <a:noFill/>
          <a:ln>
            <a:noFill/>
          </a:ln>
        </p:spPr>
      </p:pic>
      <p:sp>
        <p:nvSpPr>
          <p:cNvPr id="18" name="Google Shape;18;p3"/>
          <p:cNvSpPr txBox="1"/>
          <p:nvPr/>
        </p:nvSpPr>
        <p:spPr>
          <a:xfrm>
            <a:off x="754788" y="5976075"/>
            <a:ext cx="8267100" cy="563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lang="en-US" sz="1600">
                <a:solidFill>
                  <a:schemeClr val="dk1"/>
                </a:solidFill>
              </a:rPr>
              <a:t>Regina Khamatnurova · October 2026 · Comparative Political Data Set (CPDS)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 name="Shape 23"/>
        <p:cNvGrpSpPr/>
        <p:nvPr/>
      </p:nvGrpSpPr>
      <p:grpSpPr>
        <a:xfrm>
          <a:off x="0" y="0"/>
          <a:ext cx="0" cy="0"/>
          <a:chOff x="0" y="0"/>
          <a:chExt cx="0" cy="0"/>
        </a:xfrm>
      </p:grpSpPr>
      <p:sp>
        <p:nvSpPr>
          <p:cNvPr id="24" name="Google Shape;24;p4"/>
          <p:cNvSpPr txBox="1"/>
          <p:nvPr/>
        </p:nvSpPr>
        <p:spPr>
          <a:xfrm>
            <a:off x="253650" y="209800"/>
            <a:ext cx="11664900" cy="6576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US" sz="1900">
                <a:solidFill>
                  <a:schemeClr val="dk1"/>
                </a:solidFill>
              </a:rPr>
              <a:t>Topic &amp; Context</a:t>
            </a:r>
            <a:endParaRPr b="1" sz="19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700">
                <a:solidFill>
                  <a:schemeClr val="dk1"/>
                </a:solidFill>
              </a:rPr>
              <a:t>What is government composition?</a:t>
            </a:r>
            <a:endParaRPr b="1" sz="17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US" sz="1700">
                <a:solidFill>
                  <a:schemeClr val="dk1"/>
                </a:solidFill>
              </a:rPr>
              <a:t>Governments can differ in the political composition of their cabinets.</a:t>
            </a:r>
            <a:br>
              <a:rPr lang="en-US" sz="1700">
                <a:solidFill>
                  <a:schemeClr val="dk1"/>
                </a:solidFill>
              </a:rPr>
            </a:br>
            <a:r>
              <a:rPr lang="en-US" sz="1700">
                <a:solidFill>
                  <a:schemeClr val="dk1"/>
                </a:solidFill>
              </a:rPr>
              <a:t>The CPDS summarizes this using the </a:t>
            </a:r>
            <a:r>
              <a:rPr b="1" lang="en-US" sz="1700">
                <a:solidFill>
                  <a:schemeClr val="dk1"/>
                </a:solidFill>
              </a:rPr>
              <a:t>Schmidt Index</a:t>
            </a:r>
            <a:r>
              <a:rPr lang="en-US" sz="1700">
                <a:solidFill>
                  <a:schemeClr val="dk1"/>
                </a:solidFill>
              </a:rPr>
              <a:t>, based on the share of cabinet posts held by parties of different political orientations.</a:t>
            </a:r>
            <a:endParaRPr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7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b="1" lang="en-US" sz="1700">
                <a:solidFill>
                  <a:schemeClr val="dk1"/>
                </a:solidFill>
              </a:rPr>
              <a:t>1 — Right/centre hegemony</a:t>
            </a:r>
            <a:br>
              <a:rPr b="1" lang="en-US" sz="1700">
                <a:solidFill>
                  <a:schemeClr val="dk1"/>
                </a:solidFill>
              </a:rPr>
            </a:br>
            <a:r>
              <a:rPr b="1" lang="en-US" sz="1700">
                <a:solidFill>
                  <a:schemeClr val="dk1"/>
                </a:solidFill>
              </a:rPr>
              <a:t>2 — Right/centre dominance</a:t>
            </a:r>
            <a:br>
              <a:rPr b="1" lang="en-US" sz="1700">
                <a:solidFill>
                  <a:schemeClr val="dk1"/>
                </a:solidFill>
              </a:rPr>
            </a:br>
            <a:r>
              <a:rPr b="1" lang="en-US" sz="1700">
                <a:solidFill>
                  <a:schemeClr val="dk1"/>
                </a:solidFill>
              </a:rPr>
              <a:t>3 — Balance between left and right</a:t>
            </a:r>
            <a:br>
              <a:rPr b="1" lang="en-US" sz="1700">
                <a:solidFill>
                  <a:schemeClr val="dk1"/>
                </a:solidFill>
              </a:rPr>
            </a:br>
            <a:r>
              <a:rPr b="1" lang="en-US" sz="1700">
                <a:solidFill>
                  <a:schemeClr val="dk1"/>
                </a:solidFill>
              </a:rPr>
              <a:t>4 — Left dominance</a:t>
            </a:r>
            <a:br>
              <a:rPr b="1" lang="en-US" sz="1700">
                <a:solidFill>
                  <a:schemeClr val="dk1"/>
                </a:solidFill>
              </a:rPr>
            </a:br>
            <a:r>
              <a:rPr b="1" lang="en-US" sz="1700">
                <a:solidFill>
                  <a:schemeClr val="dk1"/>
                </a:solidFill>
              </a:rPr>
              <a:t>5 — Left hegemony</a:t>
            </a:r>
            <a:endParaRPr b="1"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7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b="1" lang="en-US" sz="1700">
                <a:solidFill>
                  <a:schemeClr val="dk1"/>
                </a:solidFill>
              </a:rPr>
              <a:t>This project examines whether GDP growth, unemployment, and inflation show different patterns across these five government compositions.</a:t>
            </a:r>
            <a:endParaRPr b="1" sz="1700">
              <a:solidFill>
                <a:schemeClr val="dk1"/>
              </a:solidFill>
            </a:endParaRPr>
          </a:p>
          <a:p>
            <a:pPr indent="0" lvl="0" marL="0" rtl="0" algn="l">
              <a:spcBef>
                <a:spcPts val="1200"/>
              </a:spcBef>
              <a:spcAft>
                <a:spcPts val="0"/>
              </a:spcAft>
              <a:buNone/>
            </a:pPr>
            <a:r>
              <a:t/>
            </a:r>
            <a:endParaRPr sz="2000"/>
          </a:p>
        </p:txBody>
      </p:sp>
      <p:pic>
        <p:nvPicPr>
          <p:cNvPr descr="political government building icon vector outline illustration (Provided by Getty Images)" id="25" name="Google Shape;25;p4"/>
          <p:cNvPicPr preferRelativeResize="0"/>
          <p:nvPr/>
        </p:nvPicPr>
        <p:blipFill>
          <a:blip r:embed="rId3">
            <a:alphaModFix/>
          </a:blip>
          <a:stretch>
            <a:fillRect/>
          </a:stretch>
        </p:blipFill>
        <p:spPr>
          <a:xfrm>
            <a:off x="5353850" y="2087150"/>
            <a:ext cx="2683699" cy="268369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 name="Shape 30"/>
        <p:cNvGrpSpPr/>
        <p:nvPr/>
      </p:nvGrpSpPr>
      <p:grpSpPr>
        <a:xfrm>
          <a:off x="0" y="0"/>
          <a:ext cx="0" cy="0"/>
          <a:chOff x="0" y="0"/>
          <a:chExt cx="0" cy="0"/>
        </a:xfrm>
      </p:grpSpPr>
      <p:sp>
        <p:nvSpPr>
          <p:cNvPr id="31" name="Google Shape;31;p5"/>
          <p:cNvSpPr/>
          <p:nvPr/>
        </p:nvSpPr>
        <p:spPr>
          <a:xfrm>
            <a:off x="685800" y="361950"/>
            <a:ext cx="97155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275">
                <a:solidFill>
                  <a:srgbClr val="168B8A"/>
                </a:solidFill>
                <a:latin typeface="Arial"/>
                <a:ea typeface="Arial"/>
                <a:cs typeface="Arial"/>
                <a:sym typeface="Arial"/>
              </a:rPr>
              <a:t>DATA PIPELINE PROJECT</a:t>
            </a:r>
            <a:endParaRPr/>
          </a:p>
        </p:txBody>
      </p:sp>
      <p:sp>
        <p:nvSpPr>
          <p:cNvPr id="32" name="Google Shape;32;p5"/>
          <p:cNvSpPr/>
          <p:nvPr/>
        </p:nvSpPr>
        <p:spPr>
          <a:xfrm>
            <a:off x="685800" y="838200"/>
            <a:ext cx="10668000" cy="80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225">
                <a:solidFill>
                  <a:srgbClr val="10263D"/>
                </a:solidFill>
                <a:latin typeface="Arial"/>
                <a:ea typeface="Arial"/>
                <a:cs typeface="Arial"/>
                <a:sym typeface="Arial"/>
              </a:rPr>
              <a:t>The question</a:t>
            </a:r>
            <a:endParaRPr/>
          </a:p>
        </p:txBody>
      </p:sp>
      <p:sp>
        <p:nvSpPr>
          <p:cNvPr id="33" name="Google Shape;33;p5"/>
          <p:cNvSpPr/>
          <p:nvPr/>
        </p:nvSpPr>
        <p:spPr>
          <a:xfrm>
            <a:off x="685800" y="1952625"/>
            <a:ext cx="3810000" cy="381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425">
                <a:solidFill>
                  <a:srgbClr val="168B8A"/>
                </a:solidFill>
                <a:latin typeface="Arial"/>
                <a:ea typeface="Arial"/>
                <a:cs typeface="Arial"/>
                <a:sym typeface="Arial"/>
              </a:rPr>
              <a:t>Main question</a:t>
            </a:r>
            <a:endParaRPr/>
          </a:p>
        </p:txBody>
      </p:sp>
      <p:sp>
        <p:nvSpPr>
          <p:cNvPr id="34" name="Google Shape;34;p5"/>
          <p:cNvSpPr/>
          <p:nvPr/>
        </p:nvSpPr>
        <p:spPr>
          <a:xfrm>
            <a:off x="685800" y="2409825"/>
            <a:ext cx="10191750" cy="1143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325">
                <a:solidFill>
                  <a:srgbClr val="10263D"/>
                </a:solidFill>
              </a:rPr>
              <a:t>How does government political composition relate to economic outcomes across democratic countries? </a:t>
            </a:r>
            <a:endParaRPr sz="2325">
              <a:solidFill>
                <a:srgbClr val="10263D"/>
              </a:solidFill>
            </a:endParaRPr>
          </a:p>
          <a:p>
            <a:pPr indent="0" lvl="0" marL="0" rtl="0" algn="l">
              <a:spcBef>
                <a:spcPts val="0"/>
              </a:spcBef>
              <a:spcAft>
                <a:spcPts val="0"/>
              </a:spcAft>
              <a:buClr>
                <a:schemeClr val="dk1"/>
              </a:buClr>
              <a:buFont typeface="Arial"/>
              <a:buNone/>
            </a:pPr>
            <a:r>
              <a:rPr lang="en-US" sz="1875">
                <a:solidFill>
                  <a:srgbClr val="536678"/>
                </a:solidFill>
              </a:rPr>
              <a:t>GDP growth · Unemployment · Inflation </a:t>
            </a:r>
            <a:endParaRPr sz="2325">
              <a:solidFill>
                <a:srgbClr val="10263D"/>
              </a:solidFill>
            </a:endParaRPr>
          </a:p>
        </p:txBody>
      </p:sp>
      <p:sp>
        <p:nvSpPr>
          <p:cNvPr id="35" name="Google Shape;35;p5"/>
          <p:cNvSpPr/>
          <p:nvPr/>
        </p:nvSpPr>
        <p:spPr>
          <a:xfrm>
            <a:off x="685800" y="4191000"/>
            <a:ext cx="9906000" cy="7143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75">
                <a:solidFill>
                  <a:srgbClr val="536678"/>
                </a:solidFill>
              </a:rPr>
              <a:t>I wanted to understand whether different political orientations in government are associated with meaningful differences in economic outcomes — and use data to challenge or support my own assumptions as a voter. </a:t>
            </a:r>
            <a:endParaRPr sz="1875">
              <a:solidFill>
                <a:srgbClr val="536678"/>
              </a:solidFill>
            </a:endParaRPr>
          </a:p>
          <a:p>
            <a:pPr indent="0" lvl="0" marL="0" marR="0" rtl="0" algn="l">
              <a:spcBef>
                <a:spcPts val="0"/>
              </a:spcBef>
              <a:spcAft>
                <a:spcPts val="0"/>
              </a:spcAft>
              <a:buNone/>
            </a:pPr>
            <a:r>
              <a:t/>
            </a:r>
            <a:endParaRPr sz="1875">
              <a:solidFill>
                <a:srgbClr val="536678"/>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 name="Shape 40"/>
        <p:cNvGrpSpPr/>
        <p:nvPr/>
      </p:nvGrpSpPr>
      <p:grpSpPr>
        <a:xfrm>
          <a:off x="0" y="0"/>
          <a:ext cx="0" cy="0"/>
          <a:chOff x="0" y="0"/>
          <a:chExt cx="0" cy="0"/>
        </a:xfrm>
      </p:grpSpPr>
      <p:sp>
        <p:nvSpPr>
          <p:cNvPr id="41" name="Google Shape;41;p6"/>
          <p:cNvSpPr/>
          <p:nvPr/>
        </p:nvSpPr>
        <p:spPr>
          <a:xfrm>
            <a:off x="685800" y="361950"/>
            <a:ext cx="97155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275">
                <a:solidFill>
                  <a:srgbClr val="168B8A"/>
                </a:solidFill>
                <a:latin typeface="Arial"/>
                <a:ea typeface="Arial"/>
                <a:cs typeface="Arial"/>
                <a:sym typeface="Arial"/>
              </a:rPr>
              <a:t>DATA PIPELINE PROJECT</a:t>
            </a:r>
            <a:endParaRPr/>
          </a:p>
        </p:txBody>
      </p:sp>
      <p:sp>
        <p:nvSpPr>
          <p:cNvPr id="42" name="Google Shape;42;p6"/>
          <p:cNvSpPr/>
          <p:nvPr/>
        </p:nvSpPr>
        <p:spPr>
          <a:xfrm>
            <a:off x="685800" y="838200"/>
            <a:ext cx="10668000" cy="80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225">
                <a:solidFill>
                  <a:srgbClr val="10263D"/>
                </a:solidFill>
                <a:latin typeface="Arial"/>
                <a:ea typeface="Arial"/>
                <a:cs typeface="Arial"/>
                <a:sym typeface="Arial"/>
              </a:rPr>
              <a:t>The dataset</a:t>
            </a:r>
            <a:endParaRPr/>
          </a:p>
        </p:txBody>
      </p:sp>
      <p:sp>
        <p:nvSpPr>
          <p:cNvPr id="43" name="Google Shape;43;p6"/>
          <p:cNvSpPr/>
          <p:nvPr/>
        </p:nvSpPr>
        <p:spPr>
          <a:xfrm>
            <a:off x="685800" y="1971675"/>
            <a:ext cx="3048000" cy="3333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350">
                <a:solidFill>
                  <a:srgbClr val="168B8A"/>
                </a:solidFill>
                <a:latin typeface="Arial"/>
                <a:ea typeface="Arial"/>
                <a:cs typeface="Arial"/>
                <a:sym typeface="Arial"/>
              </a:rPr>
              <a:t>SOURCE</a:t>
            </a:r>
            <a:endParaRPr/>
          </a:p>
        </p:txBody>
      </p:sp>
      <p:sp>
        <p:nvSpPr>
          <p:cNvPr id="44" name="Google Shape;44;p6"/>
          <p:cNvSpPr/>
          <p:nvPr/>
        </p:nvSpPr>
        <p:spPr>
          <a:xfrm>
            <a:off x="685800" y="2419350"/>
            <a:ext cx="4572000"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950">
                <a:solidFill>
                  <a:srgbClr val="10263D"/>
                </a:solidFill>
              </a:rPr>
              <a:t>[Comparative Political Data Set]</a:t>
            </a:r>
            <a:endParaRPr sz="1950">
              <a:solidFill>
                <a:srgbClr val="10263D"/>
              </a:solidFill>
            </a:endParaRPr>
          </a:p>
          <a:p>
            <a:pPr indent="0" lvl="0" marL="0" marR="0" rtl="0" algn="l">
              <a:spcBef>
                <a:spcPts val="0"/>
              </a:spcBef>
              <a:spcAft>
                <a:spcPts val="0"/>
              </a:spcAft>
              <a:buNone/>
            </a:pPr>
            <a:r>
              <a:rPr lang="en-US" sz="1950">
                <a:solidFill>
                  <a:srgbClr val="10263D"/>
                </a:solidFill>
              </a:rPr>
              <a:t>(https://cpds-data.org/data/)</a:t>
            </a:r>
            <a:endParaRPr/>
          </a:p>
        </p:txBody>
      </p:sp>
      <p:sp>
        <p:nvSpPr>
          <p:cNvPr id="45" name="Google Shape;45;p6"/>
          <p:cNvSpPr/>
          <p:nvPr/>
        </p:nvSpPr>
        <p:spPr>
          <a:xfrm>
            <a:off x="6286500" y="1971675"/>
            <a:ext cx="3048000" cy="3333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350">
                <a:solidFill>
                  <a:srgbClr val="168B8A"/>
                </a:solidFill>
                <a:latin typeface="Arial"/>
                <a:ea typeface="Arial"/>
                <a:cs typeface="Arial"/>
                <a:sym typeface="Arial"/>
              </a:rPr>
              <a:t>SCOPE</a:t>
            </a:r>
            <a:endParaRPr/>
          </a:p>
        </p:txBody>
      </p:sp>
      <p:sp>
        <p:nvSpPr>
          <p:cNvPr id="46" name="Google Shape;46;p6"/>
          <p:cNvSpPr/>
          <p:nvPr/>
        </p:nvSpPr>
        <p:spPr>
          <a:xfrm>
            <a:off x="6286500" y="2419350"/>
            <a:ext cx="4857750" cy="914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950">
                <a:solidFill>
                  <a:srgbClr val="10263D"/>
                </a:solidFill>
                <a:latin typeface="Arial"/>
                <a:ea typeface="Arial"/>
                <a:cs typeface="Arial"/>
                <a:sym typeface="Arial"/>
              </a:rPr>
              <a:t>[Period: 2000- 2019 / </a:t>
            </a:r>
            <a:r>
              <a:rPr lang="en-US" sz="1950">
                <a:solidFill>
                  <a:srgbClr val="10263D"/>
                </a:solidFill>
              </a:rPr>
              <a:t>36 countries </a:t>
            </a:r>
            <a:r>
              <a:rPr b="0" lang="en-US" sz="1950">
                <a:solidFill>
                  <a:srgbClr val="10263D"/>
                </a:solidFill>
                <a:latin typeface="Arial"/>
                <a:ea typeface="Arial"/>
                <a:cs typeface="Arial"/>
                <a:sym typeface="Arial"/>
              </a:rPr>
              <a:t>/ unit of analysis: country-year ]</a:t>
            </a:r>
            <a:endParaRPr/>
          </a:p>
        </p:txBody>
      </p:sp>
      <p:sp>
        <p:nvSpPr>
          <p:cNvPr id="47" name="Google Shape;47;p6"/>
          <p:cNvSpPr/>
          <p:nvPr/>
        </p:nvSpPr>
        <p:spPr>
          <a:xfrm>
            <a:off x="685800" y="3905250"/>
            <a:ext cx="3048000" cy="3333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350">
                <a:solidFill>
                  <a:srgbClr val="168B8A"/>
                </a:solidFill>
                <a:latin typeface="Arial"/>
                <a:ea typeface="Arial"/>
                <a:cs typeface="Arial"/>
                <a:sym typeface="Arial"/>
              </a:rPr>
              <a:t>SIZE</a:t>
            </a:r>
            <a:endParaRPr/>
          </a:p>
        </p:txBody>
      </p:sp>
      <p:sp>
        <p:nvSpPr>
          <p:cNvPr id="48" name="Google Shape;48;p6"/>
          <p:cNvSpPr/>
          <p:nvPr/>
        </p:nvSpPr>
        <p:spPr>
          <a:xfrm>
            <a:off x="685800" y="4352925"/>
            <a:ext cx="4572000"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950">
                <a:solidFill>
                  <a:srgbClr val="10263D"/>
                </a:solidFill>
                <a:latin typeface="Arial"/>
                <a:ea typeface="Arial"/>
                <a:cs typeface="Arial"/>
                <a:sym typeface="Arial"/>
              </a:rPr>
              <a:t>[</a:t>
            </a:r>
            <a:r>
              <a:rPr lang="en-US" sz="1950">
                <a:solidFill>
                  <a:srgbClr val="10263D"/>
                </a:solidFill>
              </a:rPr>
              <a:t>720 observations after filtering</a:t>
            </a:r>
            <a:endParaRPr sz="1950">
              <a:solidFill>
                <a:srgbClr val="10263D"/>
              </a:solidFill>
            </a:endParaRPr>
          </a:p>
          <a:p>
            <a:pPr indent="0" lvl="0" marL="0" marR="0" rtl="0" algn="l">
              <a:spcBef>
                <a:spcPts val="0"/>
              </a:spcBef>
              <a:spcAft>
                <a:spcPts val="0"/>
              </a:spcAft>
              <a:buNone/>
            </a:pPr>
            <a:r>
              <a:rPr lang="en-US" sz="1950">
                <a:solidFill>
                  <a:srgbClr val="10263D"/>
                </a:solidFill>
              </a:rPr>
              <a:t>20 years × 36 countries </a:t>
            </a:r>
            <a:r>
              <a:rPr b="0" lang="en-US" sz="1950">
                <a:solidFill>
                  <a:srgbClr val="10263D"/>
                </a:solidFill>
                <a:latin typeface="Arial"/>
                <a:ea typeface="Arial"/>
                <a:cs typeface="Arial"/>
                <a:sym typeface="Arial"/>
              </a:rPr>
              <a:t>]</a:t>
            </a:r>
            <a:endParaRPr/>
          </a:p>
        </p:txBody>
      </p:sp>
      <p:sp>
        <p:nvSpPr>
          <p:cNvPr id="49" name="Google Shape;49;p6"/>
          <p:cNvSpPr/>
          <p:nvPr/>
        </p:nvSpPr>
        <p:spPr>
          <a:xfrm>
            <a:off x="6286500" y="3905250"/>
            <a:ext cx="3048000" cy="3333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350">
                <a:solidFill>
                  <a:srgbClr val="168B8A"/>
                </a:solidFill>
                <a:latin typeface="Arial"/>
                <a:ea typeface="Arial"/>
                <a:cs typeface="Arial"/>
                <a:sym typeface="Arial"/>
              </a:rPr>
              <a:t>LIMITATION</a:t>
            </a:r>
            <a:endParaRPr/>
          </a:p>
        </p:txBody>
      </p:sp>
      <p:sp>
        <p:nvSpPr>
          <p:cNvPr id="50" name="Google Shape;50;p6"/>
          <p:cNvSpPr/>
          <p:nvPr/>
        </p:nvSpPr>
        <p:spPr>
          <a:xfrm>
            <a:off x="6286500" y="4352925"/>
            <a:ext cx="485775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950">
                <a:solidFill>
                  <a:srgbClr val="10263D"/>
                </a:solidFill>
                <a:latin typeface="Arial"/>
                <a:ea typeface="Arial"/>
                <a:cs typeface="Arial"/>
                <a:sym typeface="Arial"/>
              </a:rPr>
              <a:t>[</a:t>
            </a:r>
            <a:r>
              <a:rPr lang="en-US" sz="1950">
                <a:solidFill>
                  <a:srgbClr val="10263D"/>
                </a:solidFill>
              </a:rPr>
              <a:t>Observational data — associations cannot be interpreted as causal effects </a:t>
            </a:r>
            <a:r>
              <a:rPr b="0" lang="en-US" sz="1950">
                <a:solidFill>
                  <a:srgbClr val="10263D"/>
                </a:solidFill>
                <a:latin typeface="Arial"/>
                <a:ea typeface="Arial"/>
                <a:cs typeface="Arial"/>
                <a:sym typeface="Arial"/>
              </a:rPr>
              <a: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 name="Shape 55"/>
        <p:cNvGrpSpPr/>
        <p:nvPr/>
      </p:nvGrpSpPr>
      <p:grpSpPr>
        <a:xfrm>
          <a:off x="0" y="0"/>
          <a:ext cx="0" cy="0"/>
          <a:chOff x="0" y="0"/>
          <a:chExt cx="0" cy="0"/>
        </a:xfrm>
      </p:grpSpPr>
      <p:sp>
        <p:nvSpPr>
          <p:cNvPr id="56" name="Google Shape;56;p7"/>
          <p:cNvSpPr/>
          <p:nvPr/>
        </p:nvSpPr>
        <p:spPr>
          <a:xfrm>
            <a:off x="685800" y="361950"/>
            <a:ext cx="97155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275">
                <a:solidFill>
                  <a:srgbClr val="168B8A"/>
                </a:solidFill>
                <a:latin typeface="Arial"/>
                <a:ea typeface="Arial"/>
                <a:cs typeface="Arial"/>
                <a:sym typeface="Arial"/>
              </a:rPr>
              <a:t>DATA PIPELINE PROJECT</a:t>
            </a:r>
            <a:endParaRPr/>
          </a:p>
        </p:txBody>
      </p:sp>
      <p:sp>
        <p:nvSpPr>
          <p:cNvPr id="57" name="Google Shape;57;p7"/>
          <p:cNvSpPr/>
          <p:nvPr/>
        </p:nvSpPr>
        <p:spPr>
          <a:xfrm>
            <a:off x="685800" y="838200"/>
            <a:ext cx="10668000" cy="80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225">
                <a:solidFill>
                  <a:srgbClr val="10263D"/>
                </a:solidFill>
                <a:latin typeface="Arial"/>
                <a:ea typeface="Arial"/>
                <a:cs typeface="Arial"/>
                <a:sym typeface="Arial"/>
              </a:rPr>
              <a:t>Cleaning and quality checks</a:t>
            </a:r>
            <a:endParaRPr/>
          </a:p>
        </p:txBody>
      </p:sp>
      <p:sp>
        <p:nvSpPr>
          <p:cNvPr id="58" name="Google Shape;58;p7"/>
          <p:cNvSpPr/>
          <p:nvPr/>
        </p:nvSpPr>
        <p:spPr>
          <a:xfrm>
            <a:off x="11049000" y="6115050"/>
            <a:ext cx="571500"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a:p>
        </p:txBody>
      </p:sp>
      <p:sp>
        <p:nvSpPr>
          <p:cNvPr id="59" name="Google Shape;59;p7"/>
          <p:cNvSpPr txBox="1"/>
          <p:nvPr/>
        </p:nvSpPr>
        <p:spPr>
          <a:xfrm>
            <a:off x="685800" y="1556375"/>
            <a:ext cx="6748500" cy="4214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US" sz="1600">
                <a:solidFill>
                  <a:schemeClr val="dk1"/>
                </a:solidFill>
              </a:rPr>
              <a:t>Missing values</a:t>
            </a:r>
            <a:endParaRPr b="1" sz="16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US" sz="1600">
                <a:solidFill>
                  <a:schemeClr val="dk1"/>
                </a:solidFill>
              </a:rPr>
              <a:t>Checked selected analysis variables for missing data before processing.</a:t>
            </a:r>
            <a:endParaRPr sz="16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600">
                <a:solidFill>
                  <a:schemeClr val="dk1"/>
                </a:solidFill>
              </a:rPr>
              <a:t>Duplicates &amp; validity</a:t>
            </a:r>
            <a:endParaRPr b="1" sz="16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US" sz="1600">
                <a:solidFill>
                  <a:schemeClr val="dk1"/>
                </a:solidFill>
              </a:rPr>
              <a:t>Checked duplicate country-year observations</a:t>
            </a:r>
            <a:br>
              <a:rPr lang="en-US" sz="1600">
                <a:solidFill>
                  <a:schemeClr val="dk1"/>
                </a:solidFill>
              </a:rPr>
            </a:br>
            <a:r>
              <a:rPr lang="en-US" sz="1600">
                <a:solidFill>
                  <a:schemeClr val="dk1"/>
                </a:solidFill>
              </a:rPr>
              <a:t>Validated government categories and foreign keys</a:t>
            </a:r>
            <a:br>
              <a:rPr lang="en-US" sz="1600">
                <a:solidFill>
                  <a:schemeClr val="dk1"/>
                </a:solidFill>
              </a:rPr>
            </a:br>
            <a:r>
              <a:rPr lang="en-US" sz="1600">
                <a:solidFill>
                  <a:schemeClr val="dk1"/>
                </a:solidFill>
              </a:rPr>
              <a:t>Checked political percentage ranges</a:t>
            </a:r>
            <a:endParaRPr sz="16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600">
                <a:solidFill>
                  <a:schemeClr val="dk1"/>
                </a:solidFill>
              </a:rPr>
              <a:t>Transformation</a:t>
            </a:r>
            <a:endParaRPr b="1" sz="16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US" sz="1600">
                <a:solidFill>
                  <a:schemeClr val="dk1"/>
                </a:solidFill>
              </a:rPr>
              <a:t>Filtered dataset to 2000–2019</a:t>
            </a:r>
            <a:br>
              <a:rPr lang="en-US" sz="1600">
                <a:solidFill>
                  <a:schemeClr val="dk1"/>
                </a:solidFill>
              </a:rPr>
            </a:br>
            <a:r>
              <a:rPr lang="en-US" sz="1600">
                <a:solidFill>
                  <a:schemeClr val="dk1"/>
                </a:solidFill>
              </a:rPr>
              <a:t>Selected 9 relevant variables</a:t>
            </a:r>
            <a:br>
              <a:rPr lang="en-US" sz="1600">
                <a:solidFill>
                  <a:schemeClr val="dk1"/>
                </a:solidFill>
              </a:rPr>
            </a:br>
            <a:r>
              <a:rPr lang="en-US" sz="1600">
                <a:solidFill>
                  <a:schemeClr val="dk1"/>
                </a:solidFill>
              </a:rPr>
              <a:t>Renamed columns for readability</a:t>
            </a:r>
            <a:endParaRPr sz="16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600">
                <a:solidFill>
                  <a:schemeClr val="dk1"/>
                </a:solidFill>
              </a:rPr>
              <a:t>Final dataset</a:t>
            </a:r>
            <a:endParaRPr b="1" sz="16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b="1" lang="en-US" sz="1600">
                <a:solidFill>
                  <a:schemeClr val="dk1"/>
                </a:solidFill>
              </a:rPr>
              <a:t>720 country-year observations</a:t>
            </a:r>
            <a:br>
              <a:rPr b="1" lang="en-US" sz="1600">
                <a:solidFill>
                  <a:schemeClr val="dk1"/>
                </a:solidFill>
              </a:rPr>
            </a:br>
            <a:r>
              <a:rPr b="1" lang="en-US" sz="1600">
                <a:solidFill>
                  <a:schemeClr val="dk1"/>
                </a:solidFill>
              </a:rPr>
              <a:t>36 countries · 20 years</a:t>
            </a:r>
            <a:endParaRPr b="1" sz="1600">
              <a:solidFill>
                <a:schemeClr val="dk1"/>
              </a:solidFill>
            </a:endParaRPr>
          </a:p>
          <a:p>
            <a:pPr indent="0" lvl="0" marL="0" rtl="0" algn="l">
              <a:spcBef>
                <a:spcPts val="1200"/>
              </a:spcBef>
              <a:spcAft>
                <a:spcPts val="0"/>
              </a:spcAft>
              <a:buNone/>
            </a:pPr>
            <a:r>
              <a:t/>
            </a:r>
            <a:endParaRPr sz="19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 name="Shape 64"/>
        <p:cNvGrpSpPr/>
        <p:nvPr/>
      </p:nvGrpSpPr>
      <p:grpSpPr>
        <a:xfrm>
          <a:off x="0" y="0"/>
          <a:ext cx="0" cy="0"/>
          <a:chOff x="0" y="0"/>
          <a:chExt cx="0" cy="0"/>
        </a:xfrm>
      </p:grpSpPr>
      <p:sp>
        <p:nvSpPr>
          <p:cNvPr id="65" name="Google Shape;65;p8"/>
          <p:cNvSpPr/>
          <p:nvPr/>
        </p:nvSpPr>
        <p:spPr>
          <a:xfrm>
            <a:off x="685800" y="361950"/>
            <a:ext cx="97155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275">
                <a:solidFill>
                  <a:srgbClr val="168B8A"/>
                </a:solidFill>
                <a:latin typeface="Arial"/>
                <a:ea typeface="Arial"/>
                <a:cs typeface="Arial"/>
                <a:sym typeface="Arial"/>
              </a:rPr>
              <a:t>DATA PIPELINE PROJECT</a:t>
            </a:r>
            <a:endParaRPr/>
          </a:p>
        </p:txBody>
      </p:sp>
      <p:sp>
        <p:nvSpPr>
          <p:cNvPr id="66" name="Google Shape;66;p8"/>
          <p:cNvSpPr/>
          <p:nvPr/>
        </p:nvSpPr>
        <p:spPr>
          <a:xfrm>
            <a:off x="685800" y="572025"/>
            <a:ext cx="10668000" cy="80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025">
                <a:solidFill>
                  <a:srgbClr val="10263D"/>
                </a:solidFill>
                <a:latin typeface="Arial"/>
                <a:ea typeface="Arial"/>
                <a:cs typeface="Arial"/>
                <a:sym typeface="Arial"/>
              </a:rPr>
              <a:t>Finding 1: </a:t>
            </a:r>
            <a:r>
              <a:rPr b="1" lang="en-US" sz="2025">
                <a:solidFill>
                  <a:srgbClr val="10263D"/>
                </a:solidFill>
              </a:rPr>
              <a:t>GDP growth does not show a consistent pattern across government compositions </a:t>
            </a:r>
            <a:endParaRPr sz="200"/>
          </a:p>
        </p:txBody>
      </p:sp>
      <p:sp>
        <p:nvSpPr>
          <p:cNvPr id="67" name="Google Shape;67;p8"/>
          <p:cNvSpPr/>
          <p:nvPr/>
        </p:nvSpPr>
        <p:spPr>
          <a:xfrm>
            <a:off x="11049000" y="6115050"/>
            <a:ext cx="571500"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a:p>
        </p:txBody>
      </p:sp>
      <p:sp>
        <p:nvSpPr>
          <p:cNvPr id="68" name="Google Shape;68;p8"/>
          <p:cNvSpPr/>
          <p:nvPr/>
        </p:nvSpPr>
        <p:spPr>
          <a:xfrm>
            <a:off x="9124800" y="5210088"/>
            <a:ext cx="3067200" cy="1647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275">
                <a:solidFill>
                  <a:srgbClr val="10263D"/>
                </a:solidFill>
                <a:latin typeface="Arial"/>
                <a:ea typeface="Arial"/>
                <a:cs typeface="Arial"/>
                <a:sym typeface="Arial"/>
              </a:rPr>
              <a:t>[</a:t>
            </a:r>
            <a:r>
              <a:rPr lang="en-US" sz="1275">
                <a:solidFill>
                  <a:srgbClr val="10263D"/>
                </a:solidFill>
              </a:rPr>
              <a:t>GDP growth frequently moved in similar directions across all five government categories.The categories cross repeatedly, with no composition consistently associated with higher or lower GDP growth across 2000–2019 </a:t>
            </a:r>
            <a:r>
              <a:rPr b="0" lang="en-US" sz="1275">
                <a:solidFill>
                  <a:srgbClr val="10263D"/>
                </a:solidFill>
                <a:latin typeface="Arial"/>
                <a:ea typeface="Arial"/>
                <a:cs typeface="Arial"/>
                <a:sym typeface="Arial"/>
              </a:rPr>
              <a:t>]</a:t>
            </a:r>
            <a:endParaRPr sz="800"/>
          </a:p>
        </p:txBody>
      </p:sp>
      <p:sp>
        <p:nvSpPr>
          <p:cNvPr id="69" name="Google Shape;69;p8"/>
          <p:cNvSpPr/>
          <p:nvPr/>
        </p:nvSpPr>
        <p:spPr>
          <a:xfrm>
            <a:off x="-495475" y="5284240"/>
            <a:ext cx="11626200" cy="608100"/>
          </a:xfrm>
          <a:prstGeom prst="rect">
            <a:avLst/>
          </a:prstGeom>
          <a:noFill/>
          <a:ln>
            <a:noFill/>
          </a:ln>
        </p:spPr>
        <p:txBody>
          <a:bodyPr anchorCtr="0" anchor="t" bIns="51175" lIns="102375" spcFirstLastPara="1" rIns="102375" wrap="square" tIns="51175">
            <a:noAutofit/>
          </a:bodyPr>
          <a:lstStyle/>
          <a:p>
            <a:pPr indent="0" lvl="0" marL="0" marR="0" rtl="0" algn="l">
              <a:spcBef>
                <a:spcPts val="0"/>
              </a:spcBef>
              <a:spcAft>
                <a:spcPts val="0"/>
              </a:spcAft>
              <a:buNone/>
            </a:pPr>
            <a:r>
              <a:t/>
            </a:r>
            <a:endParaRPr sz="1568"/>
          </a:p>
        </p:txBody>
      </p:sp>
      <p:pic>
        <p:nvPicPr>
          <p:cNvPr id="70" name="Google Shape;70;p8" title="dgp1.png"/>
          <p:cNvPicPr preferRelativeResize="0"/>
          <p:nvPr/>
        </p:nvPicPr>
        <p:blipFill>
          <a:blip r:embed="rId3">
            <a:alphaModFix/>
          </a:blip>
          <a:stretch>
            <a:fillRect/>
          </a:stretch>
        </p:blipFill>
        <p:spPr>
          <a:xfrm>
            <a:off x="5456375" y="1238988"/>
            <a:ext cx="4673176" cy="2773486"/>
          </a:xfrm>
          <a:prstGeom prst="rect">
            <a:avLst/>
          </a:prstGeom>
          <a:noFill/>
          <a:ln>
            <a:noFill/>
          </a:ln>
        </p:spPr>
      </p:pic>
      <p:pic>
        <p:nvPicPr>
          <p:cNvPr id="71" name="Google Shape;71;p8" title="gdp.png"/>
          <p:cNvPicPr preferRelativeResize="0"/>
          <p:nvPr/>
        </p:nvPicPr>
        <p:blipFill>
          <a:blip r:embed="rId4">
            <a:alphaModFix/>
          </a:blip>
          <a:stretch>
            <a:fillRect/>
          </a:stretch>
        </p:blipFill>
        <p:spPr>
          <a:xfrm>
            <a:off x="30426" y="1238950"/>
            <a:ext cx="4673166" cy="2773511"/>
          </a:xfrm>
          <a:prstGeom prst="rect">
            <a:avLst/>
          </a:prstGeom>
          <a:noFill/>
          <a:ln>
            <a:noFill/>
          </a:ln>
        </p:spPr>
      </p:pic>
      <p:pic>
        <p:nvPicPr>
          <p:cNvPr id="72" name="Google Shape;72;p8" title="gdp2.png"/>
          <p:cNvPicPr preferRelativeResize="0"/>
          <p:nvPr/>
        </p:nvPicPr>
        <p:blipFill>
          <a:blip r:embed="rId5">
            <a:alphaModFix/>
          </a:blip>
          <a:stretch>
            <a:fillRect/>
          </a:stretch>
        </p:blipFill>
        <p:spPr>
          <a:xfrm>
            <a:off x="1989855" y="4012463"/>
            <a:ext cx="5611899" cy="277351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7" name="Shape 77"/>
        <p:cNvGrpSpPr/>
        <p:nvPr/>
      </p:nvGrpSpPr>
      <p:grpSpPr>
        <a:xfrm>
          <a:off x="0" y="0"/>
          <a:ext cx="0" cy="0"/>
          <a:chOff x="0" y="0"/>
          <a:chExt cx="0" cy="0"/>
        </a:xfrm>
      </p:grpSpPr>
      <p:sp>
        <p:nvSpPr>
          <p:cNvPr id="78" name="Google Shape;78;p9"/>
          <p:cNvSpPr/>
          <p:nvPr/>
        </p:nvSpPr>
        <p:spPr>
          <a:xfrm>
            <a:off x="685800" y="361950"/>
            <a:ext cx="97155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275">
                <a:solidFill>
                  <a:srgbClr val="168B8A"/>
                </a:solidFill>
                <a:latin typeface="Arial"/>
                <a:ea typeface="Arial"/>
                <a:cs typeface="Arial"/>
                <a:sym typeface="Arial"/>
              </a:rPr>
              <a:t>DATA PIPELINE PROJECT</a:t>
            </a:r>
            <a:endParaRPr/>
          </a:p>
        </p:txBody>
      </p:sp>
      <p:sp>
        <p:nvSpPr>
          <p:cNvPr id="79" name="Google Shape;79;p9"/>
          <p:cNvSpPr/>
          <p:nvPr/>
        </p:nvSpPr>
        <p:spPr>
          <a:xfrm>
            <a:off x="685800" y="838200"/>
            <a:ext cx="10668000" cy="80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925">
                <a:solidFill>
                  <a:srgbClr val="10263D"/>
                </a:solidFill>
                <a:latin typeface="Arial"/>
                <a:ea typeface="Arial"/>
                <a:cs typeface="Arial"/>
                <a:sym typeface="Arial"/>
              </a:rPr>
              <a:t>Finding 2: </a:t>
            </a:r>
            <a:r>
              <a:rPr b="1" lang="en-US" sz="1925">
                <a:solidFill>
                  <a:srgbClr val="10263D"/>
                </a:solidFill>
              </a:rPr>
              <a:t>Unemployment shows greater variation across government compositions </a:t>
            </a:r>
            <a:endParaRPr sz="100"/>
          </a:p>
        </p:txBody>
      </p:sp>
      <p:sp>
        <p:nvSpPr>
          <p:cNvPr id="80" name="Google Shape;80;p9"/>
          <p:cNvSpPr/>
          <p:nvPr/>
        </p:nvSpPr>
        <p:spPr>
          <a:xfrm>
            <a:off x="6722562" y="1839106"/>
            <a:ext cx="3278400" cy="409800"/>
          </a:xfrm>
          <a:prstGeom prst="rect">
            <a:avLst/>
          </a:prstGeom>
          <a:noFill/>
          <a:ln>
            <a:noFill/>
          </a:ln>
        </p:spPr>
        <p:txBody>
          <a:bodyPr anchorCtr="0" anchor="t" bIns="49150" lIns="98325" spcFirstLastPara="1" rIns="98325" wrap="square" tIns="49150">
            <a:noAutofit/>
          </a:bodyPr>
          <a:lstStyle/>
          <a:p>
            <a:pPr indent="0" lvl="0" marL="0" marR="0" rtl="0" algn="l">
              <a:spcBef>
                <a:spcPts val="0"/>
              </a:spcBef>
              <a:spcAft>
                <a:spcPts val="0"/>
              </a:spcAft>
              <a:buNone/>
            </a:pPr>
            <a:r>
              <a:t/>
            </a:r>
            <a:endParaRPr sz="1506"/>
          </a:p>
        </p:txBody>
      </p:sp>
      <p:sp>
        <p:nvSpPr>
          <p:cNvPr id="81" name="Google Shape;81;p9"/>
          <p:cNvSpPr/>
          <p:nvPr/>
        </p:nvSpPr>
        <p:spPr>
          <a:xfrm>
            <a:off x="8901892" y="4976288"/>
            <a:ext cx="3290100" cy="1767600"/>
          </a:xfrm>
          <a:prstGeom prst="rect">
            <a:avLst/>
          </a:prstGeom>
          <a:noFill/>
          <a:ln>
            <a:noFill/>
          </a:ln>
        </p:spPr>
        <p:txBody>
          <a:bodyPr anchorCtr="0" anchor="t" bIns="49025" lIns="98075" spcFirstLastPara="1" rIns="98075" wrap="square" tIns="49025">
            <a:noAutofit/>
          </a:bodyPr>
          <a:lstStyle/>
          <a:p>
            <a:pPr indent="0" lvl="0" marL="0" marR="0" rtl="0" algn="l">
              <a:spcBef>
                <a:spcPts val="0"/>
              </a:spcBef>
              <a:spcAft>
                <a:spcPts val="0"/>
              </a:spcAft>
              <a:buNone/>
            </a:pPr>
            <a:r>
              <a:rPr b="0" lang="en-US" sz="1153">
                <a:solidFill>
                  <a:srgbClr val="10263D"/>
                </a:solidFill>
                <a:latin typeface="Arial"/>
                <a:ea typeface="Arial"/>
                <a:cs typeface="Arial"/>
                <a:sym typeface="Arial"/>
              </a:rPr>
              <a:t>[</a:t>
            </a:r>
            <a:r>
              <a:rPr lang="en-US" sz="1153">
                <a:solidFill>
                  <a:srgbClr val="10263D"/>
                </a:solidFill>
              </a:rPr>
              <a:t>Unemployment patterns differ more strongly between government categories than GDP growth.</a:t>
            </a:r>
            <a:endParaRPr sz="1153">
              <a:solidFill>
                <a:srgbClr val="10263D"/>
              </a:solidFill>
            </a:endParaRPr>
          </a:p>
          <a:p>
            <a:pPr indent="0" lvl="0" marL="0" rtl="0" algn="l">
              <a:lnSpc>
                <a:spcPct val="115000"/>
              </a:lnSpc>
              <a:spcBef>
                <a:spcPts val="1287"/>
              </a:spcBef>
              <a:spcAft>
                <a:spcPts val="1287"/>
              </a:spcAft>
              <a:buSzPts val="1180"/>
              <a:buNone/>
            </a:pPr>
            <a:r>
              <a:rPr lang="en-US" sz="1153">
                <a:solidFill>
                  <a:srgbClr val="10263D"/>
                </a:solidFill>
              </a:rPr>
              <a:t>However, the lines cross frequently, and no government composition remains consistently associated with higher or lower unemployment throughout 2000–2019 </a:t>
            </a:r>
            <a:r>
              <a:rPr b="0" lang="en-US" sz="1153">
                <a:solidFill>
                  <a:srgbClr val="10263D"/>
                </a:solidFill>
                <a:latin typeface="Arial"/>
                <a:ea typeface="Arial"/>
                <a:cs typeface="Arial"/>
                <a:sym typeface="Arial"/>
              </a:rPr>
              <a:t>]</a:t>
            </a:r>
            <a:endParaRPr sz="644"/>
          </a:p>
        </p:txBody>
      </p:sp>
      <p:pic>
        <p:nvPicPr>
          <p:cNvPr id="82" name="Google Shape;82;p9" title="une2.png"/>
          <p:cNvPicPr preferRelativeResize="0"/>
          <p:nvPr/>
        </p:nvPicPr>
        <p:blipFill>
          <a:blip r:embed="rId3">
            <a:alphaModFix/>
          </a:blip>
          <a:stretch>
            <a:fillRect/>
          </a:stretch>
        </p:blipFill>
        <p:spPr>
          <a:xfrm>
            <a:off x="5296520" y="1258875"/>
            <a:ext cx="4468740" cy="2652176"/>
          </a:xfrm>
          <a:prstGeom prst="rect">
            <a:avLst/>
          </a:prstGeom>
          <a:noFill/>
          <a:ln>
            <a:noFill/>
          </a:ln>
        </p:spPr>
      </p:pic>
      <p:pic>
        <p:nvPicPr>
          <p:cNvPr id="83" name="Google Shape;83;p9" title="unemp.png"/>
          <p:cNvPicPr preferRelativeResize="0"/>
          <p:nvPr/>
        </p:nvPicPr>
        <p:blipFill>
          <a:blip r:embed="rId4">
            <a:alphaModFix/>
          </a:blip>
          <a:stretch>
            <a:fillRect/>
          </a:stretch>
        </p:blipFill>
        <p:spPr>
          <a:xfrm>
            <a:off x="0" y="1258877"/>
            <a:ext cx="4468740" cy="2652181"/>
          </a:xfrm>
          <a:prstGeom prst="rect">
            <a:avLst/>
          </a:prstGeom>
          <a:noFill/>
          <a:ln>
            <a:noFill/>
          </a:ln>
        </p:spPr>
      </p:pic>
      <p:pic>
        <p:nvPicPr>
          <p:cNvPr id="84" name="Google Shape;84;p9" title="unemp1.png"/>
          <p:cNvPicPr preferRelativeResize="0"/>
          <p:nvPr/>
        </p:nvPicPr>
        <p:blipFill>
          <a:blip r:embed="rId5">
            <a:alphaModFix/>
          </a:blip>
          <a:stretch>
            <a:fillRect/>
          </a:stretch>
        </p:blipFill>
        <p:spPr>
          <a:xfrm>
            <a:off x="2070483" y="3911061"/>
            <a:ext cx="5731909" cy="283282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9" name="Shape 89"/>
        <p:cNvGrpSpPr/>
        <p:nvPr/>
      </p:nvGrpSpPr>
      <p:grpSpPr>
        <a:xfrm>
          <a:off x="0" y="0"/>
          <a:ext cx="0" cy="0"/>
          <a:chOff x="0" y="0"/>
          <a:chExt cx="0" cy="0"/>
        </a:xfrm>
      </p:grpSpPr>
      <p:sp>
        <p:nvSpPr>
          <p:cNvPr id="90" name="Google Shape;90;p10"/>
          <p:cNvSpPr/>
          <p:nvPr/>
        </p:nvSpPr>
        <p:spPr>
          <a:xfrm>
            <a:off x="685800" y="361950"/>
            <a:ext cx="97155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275">
                <a:solidFill>
                  <a:srgbClr val="168B8A"/>
                </a:solidFill>
                <a:latin typeface="Arial"/>
                <a:ea typeface="Arial"/>
                <a:cs typeface="Arial"/>
                <a:sym typeface="Arial"/>
              </a:rPr>
              <a:t>DATA PIPELINE PROJECT</a:t>
            </a:r>
            <a:endParaRPr/>
          </a:p>
        </p:txBody>
      </p:sp>
      <p:sp>
        <p:nvSpPr>
          <p:cNvPr id="91" name="Google Shape;91;p10"/>
          <p:cNvSpPr/>
          <p:nvPr/>
        </p:nvSpPr>
        <p:spPr>
          <a:xfrm>
            <a:off x="685800" y="572022"/>
            <a:ext cx="10668000" cy="8001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400"/>
              </a:spcBef>
              <a:spcAft>
                <a:spcPts val="0"/>
              </a:spcAft>
              <a:buClr>
                <a:schemeClr val="dk1"/>
              </a:buClr>
              <a:buSzPts val="1100"/>
              <a:buFont typeface="Arial"/>
              <a:buNone/>
            </a:pPr>
            <a:r>
              <a:rPr b="1" lang="en-US" sz="1900">
                <a:solidFill>
                  <a:schemeClr val="dk1"/>
                </a:solidFill>
              </a:rPr>
              <a:t>Finding 3: Inflation differences narrow over time across government compositions</a:t>
            </a:r>
            <a:endParaRPr b="1" sz="1900">
              <a:solidFill>
                <a:schemeClr val="dk1"/>
              </a:solidFill>
            </a:endParaRPr>
          </a:p>
          <a:p>
            <a:pPr indent="0" lvl="0" marL="0" marR="0" rtl="0" algn="l">
              <a:spcBef>
                <a:spcPts val="400"/>
              </a:spcBef>
              <a:spcAft>
                <a:spcPts val="0"/>
              </a:spcAft>
              <a:buNone/>
            </a:pPr>
            <a:r>
              <a:t/>
            </a:r>
            <a:endParaRPr b="1" sz="1900">
              <a:solidFill>
                <a:srgbClr val="10263D"/>
              </a:solidFill>
            </a:endParaRPr>
          </a:p>
        </p:txBody>
      </p:sp>
      <p:sp>
        <p:nvSpPr>
          <p:cNvPr id="92" name="Google Shape;92;p10"/>
          <p:cNvSpPr/>
          <p:nvPr/>
        </p:nvSpPr>
        <p:spPr>
          <a:xfrm>
            <a:off x="6722562" y="1839106"/>
            <a:ext cx="3278400" cy="409800"/>
          </a:xfrm>
          <a:prstGeom prst="rect">
            <a:avLst/>
          </a:prstGeom>
          <a:noFill/>
          <a:ln>
            <a:noFill/>
          </a:ln>
        </p:spPr>
        <p:txBody>
          <a:bodyPr anchorCtr="0" anchor="t" bIns="49150" lIns="98325" spcFirstLastPara="1" rIns="98325" wrap="square" tIns="49150">
            <a:noAutofit/>
          </a:bodyPr>
          <a:lstStyle/>
          <a:p>
            <a:pPr indent="0" lvl="0" marL="0" marR="0" rtl="0" algn="l">
              <a:spcBef>
                <a:spcPts val="0"/>
              </a:spcBef>
              <a:spcAft>
                <a:spcPts val="0"/>
              </a:spcAft>
              <a:buNone/>
            </a:pPr>
            <a:r>
              <a:t/>
            </a:r>
            <a:endParaRPr sz="1506"/>
          </a:p>
        </p:txBody>
      </p:sp>
      <p:sp>
        <p:nvSpPr>
          <p:cNvPr id="93" name="Google Shape;93;p10"/>
          <p:cNvSpPr/>
          <p:nvPr/>
        </p:nvSpPr>
        <p:spPr>
          <a:xfrm>
            <a:off x="8901892" y="4976288"/>
            <a:ext cx="3290100" cy="1767600"/>
          </a:xfrm>
          <a:prstGeom prst="rect">
            <a:avLst/>
          </a:prstGeom>
          <a:noFill/>
          <a:ln>
            <a:noFill/>
          </a:ln>
        </p:spPr>
        <p:txBody>
          <a:bodyPr anchorCtr="0" anchor="t" bIns="49025" lIns="98075" spcFirstLastPara="1" rIns="98075" wrap="square" tIns="49025">
            <a:noAutofit/>
          </a:bodyPr>
          <a:lstStyle/>
          <a:p>
            <a:pPr indent="0" lvl="0" marL="0" rtl="0" algn="l">
              <a:lnSpc>
                <a:spcPct val="115000"/>
              </a:lnSpc>
              <a:spcBef>
                <a:spcPts val="1200"/>
              </a:spcBef>
              <a:spcAft>
                <a:spcPts val="0"/>
              </a:spcAft>
              <a:buClr>
                <a:schemeClr val="dk1"/>
              </a:buClr>
              <a:buSzPts val="1100"/>
              <a:buFont typeface="Arial"/>
              <a:buNone/>
            </a:pPr>
            <a:r>
              <a:rPr lang="en-US" sz="1153">
                <a:solidFill>
                  <a:srgbClr val="10263D"/>
                </a:solidFill>
              </a:rPr>
              <a:t>Inflation varied considerably across government compositions in the early 2000s.</a:t>
            </a:r>
            <a:endParaRPr sz="1153">
              <a:solidFill>
                <a:srgbClr val="10263D"/>
              </a:solidFill>
            </a:endParaRPr>
          </a:p>
          <a:p>
            <a:pPr indent="0" lvl="0" marL="0" rtl="0" algn="l">
              <a:lnSpc>
                <a:spcPct val="115000"/>
              </a:lnSpc>
              <a:spcBef>
                <a:spcPts val="1200"/>
              </a:spcBef>
              <a:spcAft>
                <a:spcPts val="0"/>
              </a:spcAft>
              <a:buClr>
                <a:schemeClr val="dk1"/>
              </a:buClr>
              <a:buSzPts val="1100"/>
              <a:buFont typeface="Arial"/>
              <a:buNone/>
            </a:pPr>
            <a:r>
              <a:rPr lang="en-US" sz="1153">
                <a:solidFill>
                  <a:srgbClr val="10263D"/>
                </a:solidFill>
              </a:rPr>
              <a:t>From around 2009 onward, the categories became more closely clustered and frequently crossed, with no composition consistently associated with higher or lower inflation.</a:t>
            </a:r>
            <a:endParaRPr sz="1153">
              <a:solidFill>
                <a:srgbClr val="10263D"/>
              </a:solidFill>
            </a:endParaRPr>
          </a:p>
          <a:p>
            <a:pPr indent="0" lvl="0" marL="0" rtl="0" algn="l">
              <a:lnSpc>
                <a:spcPct val="115000"/>
              </a:lnSpc>
              <a:spcBef>
                <a:spcPts val="1287"/>
              </a:spcBef>
              <a:spcAft>
                <a:spcPts val="1287"/>
              </a:spcAft>
              <a:buSzPts val="1180"/>
              <a:buNone/>
            </a:pPr>
            <a:r>
              <a:t/>
            </a:r>
            <a:endParaRPr sz="1153">
              <a:solidFill>
                <a:srgbClr val="10263D"/>
              </a:solidFill>
            </a:endParaRPr>
          </a:p>
        </p:txBody>
      </p:sp>
      <p:pic>
        <p:nvPicPr>
          <p:cNvPr id="94" name="Google Shape;94;p10" title="inf.png"/>
          <p:cNvPicPr preferRelativeResize="0"/>
          <p:nvPr/>
        </p:nvPicPr>
        <p:blipFill>
          <a:blip r:embed="rId3">
            <a:alphaModFix/>
          </a:blip>
          <a:stretch>
            <a:fillRect/>
          </a:stretch>
        </p:blipFill>
        <p:spPr>
          <a:xfrm>
            <a:off x="4636910" y="1041775"/>
            <a:ext cx="5399021" cy="2677650"/>
          </a:xfrm>
          <a:prstGeom prst="rect">
            <a:avLst/>
          </a:prstGeom>
          <a:noFill/>
          <a:ln>
            <a:noFill/>
          </a:ln>
        </p:spPr>
      </p:pic>
      <p:pic>
        <p:nvPicPr>
          <p:cNvPr id="95" name="Google Shape;95;p10" title="inf3.png"/>
          <p:cNvPicPr preferRelativeResize="0"/>
          <p:nvPr/>
        </p:nvPicPr>
        <p:blipFill>
          <a:blip r:embed="rId4">
            <a:alphaModFix/>
          </a:blip>
          <a:stretch>
            <a:fillRect/>
          </a:stretch>
        </p:blipFill>
        <p:spPr>
          <a:xfrm>
            <a:off x="1577175" y="3826700"/>
            <a:ext cx="6145573" cy="3031300"/>
          </a:xfrm>
          <a:prstGeom prst="rect">
            <a:avLst/>
          </a:prstGeom>
          <a:noFill/>
          <a:ln>
            <a:noFill/>
          </a:ln>
        </p:spPr>
      </p:pic>
      <p:pic>
        <p:nvPicPr>
          <p:cNvPr id="96" name="Google Shape;96;p10" title="infla.png"/>
          <p:cNvPicPr preferRelativeResize="0"/>
          <p:nvPr/>
        </p:nvPicPr>
        <p:blipFill>
          <a:blip r:embed="rId5">
            <a:alphaModFix/>
          </a:blip>
          <a:stretch>
            <a:fillRect/>
          </a:stretch>
        </p:blipFill>
        <p:spPr>
          <a:xfrm>
            <a:off x="0" y="1041764"/>
            <a:ext cx="4511650" cy="267765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1" name="Shape 101"/>
        <p:cNvGrpSpPr/>
        <p:nvPr/>
      </p:nvGrpSpPr>
      <p:grpSpPr>
        <a:xfrm>
          <a:off x="0" y="0"/>
          <a:ext cx="0" cy="0"/>
          <a:chOff x="0" y="0"/>
          <a:chExt cx="0" cy="0"/>
        </a:xfrm>
      </p:grpSpPr>
      <p:sp>
        <p:nvSpPr>
          <p:cNvPr id="102" name="Google Shape;102;p11"/>
          <p:cNvSpPr/>
          <p:nvPr/>
        </p:nvSpPr>
        <p:spPr>
          <a:xfrm>
            <a:off x="685800" y="361950"/>
            <a:ext cx="97155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275">
                <a:solidFill>
                  <a:srgbClr val="168B8A"/>
                </a:solidFill>
                <a:latin typeface="Arial"/>
                <a:ea typeface="Arial"/>
                <a:cs typeface="Arial"/>
                <a:sym typeface="Arial"/>
              </a:rPr>
              <a:t>DATA PIPELINE PROJECT</a:t>
            </a:r>
            <a:endParaRPr/>
          </a:p>
        </p:txBody>
      </p:sp>
      <p:sp>
        <p:nvSpPr>
          <p:cNvPr id="103" name="Google Shape;103;p11"/>
          <p:cNvSpPr/>
          <p:nvPr/>
        </p:nvSpPr>
        <p:spPr>
          <a:xfrm>
            <a:off x="685800" y="838200"/>
            <a:ext cx="10668000" cy="80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225">
                <a:solidFill>
                  <a:srgbClr val="10263D"/>
                </a:solidFill>
                <a:latin typeface="Arial"/>
                <a:ea typeface="Arial"/>
                <a:cs typeface="Arial"/>
                <a:sym typeface="Arial"/>
              </a:rPr>
              <a:t>Answer and takeaways</a:t>
            </a:r>
            <a:endParaRPr/>
          </a:p>
        </p:txBody>
      </p:sp>
      <p:sp>
        <p:nvSpPr>
          <p:cNvPr id="104" name="Google Shape;104;p11"/>
          <p:cNvSpPr/>
          <p:nvPr/>
        </p:nvSpPr>
        <p:spPr>
          <a:xfrm>
            <a:off x="685800" y="1943100"/>
            <a:ext cx="8096250" cy="4000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425">
                <a:solidFill>
                  <a:srgbClr val="168B8A"/>
                </a:solidFill>
                <a:latin typeface="Arial"/>
                <a:ea typeface="Arial"/>
                <a:cs typeface="Arial"/>
                <a:sym typeface="Arial"/>
              </a:rPr>
              <a:t>Answer to the main question</a:t>
            </a:r>
            <a:endParaRPr/>
          </a:p>
        </p:txBody>
      </p:sp>
      <p:sp>
        <p:nvSpPr>
          <p:cNvPr id="105" name="Google Shape;105;p11"/>
          <p:cNvSpPr/>
          <p:nvPr/>
        </p:nvSpPr>
        <p:spPr>
          <a:xfrm>
            <a:off x="685800" y="2419350"/>
            <a:ext cx="10287000" cy="10953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00">
                <a:solidFill>
                  <a:schemeClr val="dk1"/>
                </a:solidFill>
              </a:rPr>
              <a:t>Economic outcomes differ across government compositions, but no consistent pattern appears across the political spectrum.</a:t>
            </a:r>
            <a:endParaRPr b="1" sz="1700">
              <a:solidFill>
                <a:schemeClr val="dk1"/>
              </a:solidFill>
            </a:endParaRPr>
          </a:p>
          <a:p>
            <a:pPr indent="0" lvl="0" marL="0" rtl="0" algn="l">
              <a:lnSpc>
                <a:spcPct val="115000"/>
              </a:lnSpc>
              <a:spcBef>
                <a:spcPts val="1200"/>
              </a:spcBef>
              <a:spcAft>
                <a:spcPts val="1200"/>
              </a:spcAft>
              <a:buSzPts val="1100"/>
              <a:buNone/>
            </a:pPr>
            <a:r>
              <a:rPr lang="en-US" sz="1700">
                <a:solidFill>
                  <a:schemeClr val="dk1"/>
                </a:solidFill>
              </a:rPr>
              <a:t>Government composition alone does not explain the differences observed in GDP growth, unemployment, or inflation </a:t>
            </a:r>
            <a:endParaRPr sz="1700"/>
          </a:p>
        </p:txBody>
      </p:sp>
      <p:sp>
        <p:nvSpPr>
          <p:cNvPr id="106" name="Google Shape;106;p11"/>
          <p:cNvSpPr/>
          <p:nvPr/>
        </p:nvSpPr>
        <p:spPr>
          <a:xfrm>
            <a:off x="685800" y="4010025"/>
            <a:ext cx="8096250" cy="4000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425">
                <a:solidFill>
                  <a:srgbClr val="168B8A"/>
                </a:solidFill>
                <a:latin typeface="Arial"/>
                <a:ea typeface="Arial"/>
                <a:cs typeface="Arial"/>
                <a:sym typeface="Arial"/>
              </a:rPr>
              <a:t>What the data cannot tell us</a:t>
            </a:r>
            <a:endParaRPr/>
          </a:p>
        </p:txBody>
      </p:sp>
      <p:sp>
        <p:nvSpPr>
          <p:cNvPr id="107" name="Google Shape;107;p11"/>
          <p:cNvSpPr/>
          <p:nvPr/>
        </p:nvSpPr>
        <p:spPr>
          <a:xfrm>
            <a:off x="685800" y="4486275"/>
            <a:ext cx="10287000" cy="9048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725">
                <a:solidFill>
                  <a:srgbClr val="10263D"/>
                </a:solidFill>
              </a:rPr>
              <a:t>This analysis shows associations, not causality. Country-specific factors, global economic conditions, policy timing, and changing governments may all influence the results. </a:t>
            </a:r>
            <a:endParaRPr sz="11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pic>
        <p:nvPicPr>
          <p:cNvPr id="113" name="Google Shape;113;p12" title="all.png"/>
          <p:cNvPicPr preferRelativeResize="0"/>
          <p:nvPr/>
        </p:nvPicPr>
        <p:blipFill>
          <a:blip r:embed="rId3">
            <a:alphaModFix/>
          </a:blip>
          <a:stretch>
            <a:fillRect/>
          </a:stretch>
        </p:blipFill>
        <p:spPr>
          <a:xfrm>
            <a:off x="152400" y="152400"/>
            <a:ext cx="11887200" cy="587913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8" name="Shape 118"/>
        <p:cNvGrpSpPr/>
        <p:nvPr/>
      </p:nvGrpSpPr>
      <p:grpSpPr>
        <a:xfrm>
          <a:off x="0" y="0"/>
          <a:ext cx="0" cy="0"/>
          <a:chOff x="0" y="0"/>
          <a:chExt cx="0" cy="0"/>
        </a:xfrm>
      </p:grpSpPr>
      <p:sp>
        <p:nvSpPr>
          <p:cNvPr id="119" name="Google Shape;119;p13"/>
          <p:cNvSpPr/>
          <p:nvPr/>
        </p:nvSpPr>
        <p:spPr>
          <a:xfrm>
            <a:off x="685800" y="361950"/>
            <a:ext cx="97155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275">
                <a:solidFill>
                  <a:srgbClr val="168B8A"/>
                </a:solidFill>
                <a:latin typeface="Arial"/>
                <a:ea typeface="Arial"/>
                <a:cs typeface="Arial"/>
                <a:sym typeface="Arial"/>
              </a:rPr>
              <a:t>DATA PIPELINE PROJECT</a:t>
            </a:r>
            <a:endParaRPr/>
          </a:p>
        </p:txBody>
      </p:sp>
      <p:sp>
        <p:nvSpPr>
          <p:cNvPr id="120" name="Google Shape;120;p13"/>
          <p:cNvSpPr/>
          <p:nvPr/>
        </p:nvSpPr>
        <p:spPr>
          <a:xfrm>
            <a:off x="685800" y="838200"/>
            <a:ext cx="10668000" cy="80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225">
                <a:solidFill>
                  <a:srgbClr val="10263D"/>
                </a:solidFill>
                <a:latin typeface="Arial"/>
                <a:ea typeface="Arial"/>
                <a:cs typeface="Arial"/>
                <a:sym typeface="Arial"/>
              </a:rPr>
              <a:t>Pipeline overview</a:t>
            </a:r>
            <a:endParaRPr/>
          </a:p>
        </p:txBody>
      </p:sp>
      <p:sp>
        <p:nvSpPr>
          <p:cNvPr id="121" name="Google Shape;121;p13"/>
          <p:cNvSpPr/>
          <p:nvPr/>
        </p:nvSpPr>
        <p:spPr>
          <a:xfrm>
            <a:off x="704850" y="1556350"/>
            <a:ext cx="5143500" cy="679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a:solidFill>
                  <a:srgbClr val="10263D"/>
                </a:solidFill>
                <a:latin typeface="Arial"/>
                <a:ea typeface="Arial"/>
                <a:cs typeface="Arial"/>
                <a:sym typeface="Arial"/>
              </a:rPr>
              <a:t>1   Raw files</a:t>
            </a:r>
            <a:endParaRPr/>
          </a:p>
        </p:txBody>
      </p:sp>
      <p:sp>
        <p:nvSpPr>
          <p:cNvPr id="122" name="Google Shape;122;p13"/>
          <p:cNvSpPr/>
          <p:nvPr/>
        </p:nvSpPr>
        <p:spPr>
          <a:xfrm>
            <a:off x="6191250" y="1556350"/>
            <a:ext cx="4762500" cy="679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025">
                <a:solidFill>
                  <a:srgbClr val="10263D"/>
                </a:solidFill>
                <a:latin typeface="Arial"/>
                <a:ea typeface="Arial"/>
                <a:cs typeface="Arial"/>
                <a:sym typeface="Arial"/>
              </a:rPr>
              <a:t>[</a:t>
            </a:r>
            <a:r>
              <a:rPr lang="en-US" sz="2025">
                <a:solidFill>
                  <a:srgbClr val="10263D"/>
                </a:solidFill>
              </a:rPr>
              <a:t>CPDS Excel dataset</a:t>
            </a:r>
            <a:endParaRPr sz="2025">
              <a:solidFill>
                <a:srgbClr val="10263D"/>
              </a:solidFill>
            </a:endParaRPr>
          </a:p>
          <a:p>
            <a:pPr indent="0" lvl="0" marL="0" marR="0" rtl="0" algn="l">
              <a:spcBef>
                <a:spcPts val="0"/>
              </a:spcBef>
              <a:spcAft>
                <a:spcPts val="0"/>
              </a:spcAft>
              <a:buNone/>
            </a:pPr>
            <a:r>
              <a:rPr lang="en-US" sz="2025">
                <a:solidFill>
                  <a:srgbClr val="10263D"/>
                </a:solidFill>
              </a:rPr>
              <a:t>Political + economic indicators </a:t>
            </a:r>
            <a:r>
              <a:rPr b="0" lang="en-US" sz="2025">
                <a:solidFill>
                  <a:srgbClr val="10263D"/>
                </a:solidFill>
                <a:latin typeface="Arial"/>
                <a:ea typeface="Arial"/>
                <a:cs typeface="Arial"/>
                <a:sym typeface="Arial"/>
              </a:rPr>
              <a:t>]</a:t>
            </a:r>
            <a:endParaRPr/>
          </a:p>
        </p:txBody>
      </p:sp>
      <p:sp>
        <p:nvSpPr>
          <p:cNvPr id="123" name="Google Shape;123;p13"/>
          <p:cNvSpPr/>
          <p:nvPr/>
        </p:nvSpPr>
        <p:spPr>
          <a:xfrm>
            <a:off x="704850" y="2733582"/>
            <a:ext cx="5143500" cy="679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a:solidFill>
                  <a:srgbClr val="10263D"/>
                </a:solidFill>
                <a:latin typeface="Arial"/>
                <a:ea typeface="Arial"/>
                <a:cs typeface="Arial"/>
                <a:sym typeface="Arial"/>
              </a:rPr>
              <a:t>2   Python cleaning</a:t>
            </a:r>
            <a:endParaRPr/>
          </a:p>
        </p:txBody>
      </p:sp>
      <p:sp>
        <p:nvSpPr>
          <p:cNvPr id="124" name="Google Shape;124;p13"/>
          <p:cNvSpPr/>
          <p:nvPr/>
        </p:nvSpPr>
        <p:spPr>
          <a:xfrm>
            <a:off x="6191250" y="2733582"/>
            <a:ext cx="4953000" cy="792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025">
                <a:solidFill>
                  <a:srgbClr val="10263D"/>
                </a:solidFill>
                <a:latin typeface="Arial"/>
                <a:ea typeface="Arial"/>
                <a:cs typeface="Arial"/>
                <a:sym typeface="Arial"/>
              </a:rPr>
              <a:t>[</a:t>
            </a:r>
            <a:r>
              <a:rPr lang="en-US" sz="2025">
                <a:solidFill>
                  <a:srgbClr val="10263D"/>
                </a:solidFill>
              </a:rPr>
              <a:t>Selected relevant variables</a:t>
            </a:r>
            <a:endParaRPr sz="2025">
              <a:solidFill>
                <a:srgbClr val="10263D"/>
              </a:solidFill>
            </a:endParaRPr>
          </a:p>
          <a:p>
            <a:pPr indent="0" lvl="0" marL="0" rtl="0" algn="l">
              <a:spcBef>
                <a:spcPts val="0"/>
              </a:spcBef>
              <a:spcAft>
                <a:spcPts val="0"/>
              </a:spcAft>
              <a:buClr>
                <a:schemeClr val="dk1"/>
              </a:buClr>
              <a:buSzPts val="1100"/>
              <a:buFont typeface="Arial"/>
              <a:buNone/>
            </a:pPr>
            <a:r>
              <a:rPr lang="en-US" sz="2025">
                <a:solidFill>
                  <a:srgbClr val="10263D"/>
                </a:solidFill>
              </a:rPr>
              <a:t>Filtered 2000–2019</a:t>
            </a:r>
            <a:endParaRPr sz="2025">
              <a:solidFill>
                <a:srgbClr val="10263D"/>
              </a:solidFill>
            </a:endParaRPr>
          </a:p>
          <a:p>
            <a:pPr indent="0" lvl="0" marL="0" marR="0" rtl="0" algn="l">
              <a:spcBef>
                <a:spcPts val="0"/>
              </a:spcBef>
              <a:spcAft>
                <a:spcPts val="0"/>
              </a:spcAft>
              <a:buNone/>
            </a:pPr>
            <a:r>
              <a:rPr lang="en-US" sz="2025">
                <a:solidFill>
                  <a:srgbClr val="10263D"/>
                </a:solidFill>
              </a:rPr>
              <a:t>Checked missing values, duplicates &amp; validity </a:t>
            </a:r>
            <a:r>
              <a:rPr b="0" lang="en-US" sz="2025">
                <a:solidFill>
                  <a:srgbClr val="10263D"/>
                </a:solidFill>
                <a:latin typeface="Arial"/>
                <a:ea typeface="Arial"/>
                <a:cs typeface="Arial"/>
                <a:sym typeface="Arial"/>
              </a:rPr>
              <a:t>]</a:t>
            </a:r>
            <a:endParaRPr/>
          </a:p>
        </p:txBody>
      </p:sp>
      <p:sp>
        <p:nvSpPr>
          <p:cNvPr id="125" name="Google Shape;125;p13"/>
          <p:cNvSpPr/>
          <p:nvPr/>
        </p:nvSpPr>
        <p:spPr>
          <a:xfrm>
            <a:off x="704850" y="4243267"/>
            <a:ext cx="5143500" cy="679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a:solidFill>
                  <a:srgbClr val="10263D"/>
                </a:solidFill>
                <a:latin typeface="Arial"/>
                <a:ea typeface="Arial"/>
                <a:cs typeface="Arial"/>
                <a:sym typeface="Arial"/>
              </a:rPr>
              <a:t>3   SQLite database</a:t>
            </a:r>
            <a:endParaRPr/>
          </a:p>
        </p:txBody>
      </p:sp>
      <p:sp>
        <p:nvSpPr>
          <p:cNvPr id="126" name="Google Shape;126;p13"/>
          <p:cNvSpPr/>
          <p:nvPr/>
        </p:nvSpPr>
        <p:spPr>
          <a:xfrm>
            <a:off x="6191250" y="4261875"/>
            <a:ext cx="4953000" cy="792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025">
                <a:solidFill>
                  <a:srgbClr val="10263D"/>
                </a:solidFill>
                <a:latin typeface="Arial"/>
                <a:ea typeface="Arial"/>
                <a:cs typeface="Arial"/>
                <a:sym typeface="Arial"/>
              </a:rPr>
              <a:t>[</a:t>
            </a:r>
            <a:r>
              <a:rPr lang="en-US" sz="2025">
                <a:solidFill>
                  <a:srgbClr val="10263D"/>
                </a:solidFill>
              </a:rPr>
              <a:t>3 relational tables</a:t>
            </a:r>
            <a:endParaRPr sz="2025">
              <a:solidFill>
                <a:srgbClr val="10263D"/>
              </a:solidFill>
            </a:endParaRPr>
          </a:p>
          <a:p>
            <a:pPr indent="0" lvl="0" marL="0" rtl="0" algn="l">
              <a:spcBef>
                <a:spcPts val="0"/>
              </a:spcBef>
              <a:spcAft>
                <a:spcPts val="0"/>
              </a:spcAft>
              <a:buClr>
                <a:schemeClr val="dk1"/>
              </a:buClr>
              <a:buSzPts val="1100"/>
              <a:buFont typeface="Arial"/>
              <a:buNone/>
            </a:pPr>
            <a:r>
              <a:rPr lang="en-US" sz="2025">
                <a:solidFill>
                  <a:srgbClr val="10263D"/>
                </a:solidFill>
              </a:rPr>
              <a:t>Primary &amp; foreign keys</a:t>
            </a:r>
            <a:endParaRPr sz="2025">
              <a:solidFill>
                <a:srgbClr val="10263D"/>
              </a:solidFill>
            </a:endParaRPr>
          </a:p>
          <a:p>
            <a:pPr indent="0" lvl="0" marL="0" marR="0" rtl="0" algn="l">
              <a:spcBef>
                <a:spcPts val="0"/>
              </a:spcBef>
              <a:spcAft>
                <a:spcPts val="0"/>
              </a:spcAft>
              <a:buNone/>
            </a:pPr>
            <a:r>
              <a:rPr lang="en-US" sz="2025">
                <a:solidFill>
                  <a:srgbClr val="10263D"/>
                </a:solidFill>
              </a:rPr>
              <a:t>720 country-year observations </a:t>
            </a:r>
            <a:r>
              <a:rPr b="0" lang="en-US" sz="2025">
                <a:solidFill>
                  <a:srgbClr val="10263D"/>
                </a:solidFill>
                <a:latin typeface="Arial"/>
                <a:ea typeface="Arial"/>
                <a:cs typeface="Arial"/>
                <a:sym typeface="Arial"/>
              </a:rPr>
              <a:t>]</a:t>
            </a:r>
            <a:endParaRPr/>
          </a:p>
        </p:txBody>
      </p:sp>
      <p:sp>
        <p:nvSpPr>
          <p:cNvPr id="127" name="Google Shape;127;p13"/>
          <p:cNvSpPr/>
          <p:nvPr/>
        </p:nvSpPr>
        <p:spPr>
          <a:xfrm>
            <a:off x="704850" y="5473841"/>
            <a:ext cx="5143500" cy="679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a:solidFill>
                  <a:srgbClr val="10263D"/>
                </a:solidFill>
                <a:latin typeface="Arial"/>
                <a:ea typeface="Arial"/>
                <a:cs typeface="Arial"/>
                <a:sym typeface="Arial"/>
              </a:rPr>
              <a:t>4   SQL + charts</a:t>
            </a:r>
            <a:endParaRPr/>
          </a:p>
        </p:txBody>
      </p:sp>
      <p:sp>
        <p:nvSpPr>
          <p:cNvPr id="128" name="Google Shape;128;p13"/>
          <p:cNvSpPr/>
          <p:nvPr/>
        </p:nvSpPr>
        <p:spPr>
          <a:xfrm>
            <a:off x="6191250" y="5492448"/>
            <a:ext cx="4953000" cy="792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025">
                <a:solidFill>
                  <a:srgbClr val="10263D"/>
                </a:solidFill>
                <a:latin typeface="Arial"/>
                <a:ea typeface="Arial"/>
                <a:cs typeface="Arial"/>
                <a:sym typeface="Arial"/>
              </a:rPr>
              <a:t>[</a:t>
            </a:r>
            <a:r>
              <a:rPr lang="en-US" sz="2025">
                <a:solidFill>
                  <a:srgbClr val="10263D"/>
                </a:solidFill>
              </a:rPr>
              <a:t>5+ analytical SQL queries</a:t>
            </a:r>
            <a:endParaRPr sz="2025">
              <a:solidFill>
                <a:srgbClr val="10263D"/>
              </a:solidFill>
            </a:endParaRPr>
          </a:p>
          <a:p>
            <a:pPr indent="0" lvl="0" marL="0" rtl="0" algn="l">
              <a:spcBef>
                <a:spcPts val="0"/>
              </a:spcBef>
              <a:spcAft>
                <a:spcPts val="0"/>
              </a:spcAft>
              <a:buClr>
                <a:schemeClr val="dk1"/>
              </a:buClr>
              <a:buSzPts val="1100"/>
              <a:buFont typeface="Arial"/>
              <a:buNone/>
            </a:pPr>
            <a:r>
              <a:rPr lang="en-US" sz="2025">
                <a:solidFill>
                  <a:srgbClr val="10263D"/>
                </a:solidFill>
              </a:rPr>
              <a:t>Pandas + Matplotlib visualizations</a:t>
            </a:r>
            <a:endParaRPr sz="2025">
              <a:solidFill>
                <a:srgbClr val="10263D"/>
              </a:solidFill>
            </a:endParaRPr>
          </a:p>
          <a:p>
            <a:pPr indent="0" lvl="0" marL="0" marR="0" rtl="0" algn="l">
              <a:spcBef>
                <a:spcPts val="0"/>
              </a:spcBef>
              <a:spcAft>
                <a:spcPts val="0"/>
              </a:spcAft>
              <a:buNone/>
            </a:pPr>
            <a:r>
              <a:rPr lang="en-US" sz="2025">
                <a:solidFill>
                  <a:srgbClr val="10263D"/>
                </a:solidFill>
              </a:rPr>
              <a:t>GDP, unemployment &amp; inflation </a:t>
            </a:r>
            <a:r>
              <a:rPr b="0" lang="en-US" sz="2025">
                <a:solidFill>
                  <a:srgbClr val="10263D"/>
                </a:solidFill>
                <a:latin typeface="Arial"/>
                <a:ea typeface="Arial"/>
                <a:cs typeface="Arial"/>
                <a:sym typeface="Arial"/>
              </a:rPr>
              <a: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3" name="Shape 133"/>
        <p:cNvGrpSpPr/>
        <p:nvPr/>
      </p:nvGrpSpPr>
      <p:grpSpPr>
        <a:xfrm>
          <a:off x="0" y="0"/>
          <a:ext cx="0" cy="0"/>
          <a:chOff x="0" y="0"/>
          <a:chExt cx="0" cy="0"/>
        </a:xfrm>
      </p:grpSpPr>
      <p:sp>
        <p:nvSpPr>
          <p:cNvPr id="134" name="Google Shape;134;p14"/>
          <p:cNvSpPr/>
          <p:nvPr/>
        </p:nvSpPr>
        <p:spPr>
          <a:xfrm>
            <a:off x="685800" y="361950"/>
            <a:ext cx="97155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275">
                <a:solidFill>
                  <a:srgbClr val="168B8A"/>
                </a:solidFill>
                <a:latin typeface="Arial"/>
                <a:ea typeface="Arial"/>
                <a:cs typeface="Arial"/>
                <a:sym typeface="Arial"/>
              </a:rPr>
              <a:t>DATA PIPELINE PROJECT</a:t>
            </a:r>
            <a:endParaRPr/>
          </a:p>
        </p:txBody>
      </p:sp>
      <p:sp>
        <p:nvSpPr>
          <p:cNvPr id="135" name="Google Shape;135;p14"/>
          <p:cNvSpPr/>
          <p:nvPr/>
        </p:nvSpPr>
        <p:spPr>
          <a:xfrm>
            <a:off x="685800" y="838200"/>
            <a:ext cx="10668000" cy="80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225">
                <a:solidFill>
                  <a:srgbClr val="10263D"/>
                </a:solidFill>
                <a:latin typeface="Arial"/>
                <a:ea typeface="Arial"/>
                <a:cs typeface="Arial"/>
                <a:sym typeface="Arial"/>
              </a:rPr>
              <a:t>Database design</a:t>
            </a:r>
            <a:endParaRPr/>
          </a:p>
        </p:txBody>
      </p:sp>
      <p:pic>
        <p:nvPicPr>
          <p:cNvPr id="136" name="Google Shape;136;p14" title="Screenshot 2026-10-01 193952.png"/>
          <p:cNvPicPr preferRelativeResize="0"/>
          <p:nvPr/>
        </p:nvPicPr>
        <p:blipFill>
          <a:blip r:embed="rId3">
            <a:alphaModFix/>
          </a:blip>
          <a:stretch>
            <a:fillRect/>
          </a:stretch>
        </p:blipFill>
        <p:spPr>
          <a:xfrm>
            <a:off x="3049050" y="1638300"/>
            <a:ext cx="5365203" cy="49148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